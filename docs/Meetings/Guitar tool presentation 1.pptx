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64" r:id="rId3"/>
    <p:sldId id="265" r:id="rId4"/>
    <p:sldId id="257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F7"/>
    <a:srgbClr val="FFF7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74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771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25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3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238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822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773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051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893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751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624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508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C8FF3B-EEA6-CD7B-3939-089A44BA98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>
            <a:normAutofit/>
          </a:bodyPr>
          <a:lstStyle/>
          <a:p>
            <a:pPr algn="l"/>
            <a:r>
              <a:rPr lang="en-GB" sz="5400" dirty="0"/>
              <a:t>Supervisor Meeting - Friday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5BD182-1163-67B6-F2D2-AD4FF6BEAA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88"/>
          <a:stretch>
            <a:fillRect/>
          </a:stretch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302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9C821-CE08-BA2D-0BAD-19D56CFDA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4655638" cy="1132258"/>
          </a:xfrm>
        </p:spPr>
        <p:txBody>
          <a:bodyPr>
            <a:normAutofit/>
          </a:bodyPr>
          <a:lstStyle/>
          <a:p>
            <a:r>
              <a:rPr lang="en-GB" sz="2400" dirty="0"/>
              <a:t>Guitar on Audio Transcription Dataset (GOAT)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34D9B-A771-9698-4576-111EADC19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94253"/>
            <a:ext cx="4465539" cy="4593828"/>
          </a:xfrm>
        </p:spPr>
        <p:txBody>
          <a:bodyPr/>
          <a:lstStyle/>
          <a:p>
            <a:r>
              <a:rPr lang="en-GB" dirty="0"/>
              <a:t>5.9 hours of unique, Direct Input audio using various electric guitars and players</a:t>
            </a:r>
          </a:p>
          <a:p>
            <a:r>
              <a:rPr lang="en-GB" dirty="0"/>
              <a:t>Includes string and fret numbers </a:t>
            </a:r>
          </a:p>
          <a:p>
            <a:r>
              <a:rPr lang="en-GB" dirty="0"/>
              <a:t>Requires to request access due to using covers of popular songs (Emailed the research member)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985DC3B-ED89-399C-73E6-2E71FBCEA53A}"/>
              </a:ext>
            </a:extLst>
          </p:cNvPr>
          <p:cNvSpPr txBox="1">
            <a:spLocks/>
          </p:cNvSpPr>
          <p:nvPr/>
        </p:nvSpPr>
        <p:spPr>
          <a:xfrm>
            <a:off x="5990199" y="586737"/>
            <a:ext cx="465563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 err="1"/>
              <a:t>SynthTab</a:t>
            </a:r>
            <a:endParaRPr lang="en-GB" sz="2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EC27EE5-CC9A-F48C-24F3-60B7D025E5F0}"/>
              </a:ext>
            </a:extLst>
          </p:cNvPr>
          <p:cNvSpPr txBox="1">
            <a:spLocks/>
          </p:cNvSpPr>
          <p:nvPr/>
        </p:nvSpPr>
        <p:spPr>
          <a:xfrm>
            <a:off x="5516669" y="1794253"/>
            <a:ext cx="446553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13 hours of synthesised guitar audio (attempts to simulate human playing)</a:t>
            </a:r>
          </a:p>
          <a:p>
            <a:r>
              <a:rPr lang="en-GB" dirty="0"/>
              <a:t>Using </a:t>
            </a:r>
            <a:r>
              <a:rPr lang="en-GB" dirty="0" err="1"/>
              <a:t>DadaGP</a:t>
            </a:r>
            <a:r>
              <a:rPr lang="en-GB" dirty="0"/>
              <a:t> dataset </a:t>
            </a:r>
          </a:p>
          <a:p>
            <a:r>
              <a:rPr lang="en-GB" dirty="0"/>
              <a:t>String accurate and perfectly aligned with the ground truth tablature annotations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BAC066-2216-B094-657C-7587BFD46B62}"/>
              </a:ext>
            </a:extLst>
          </p:cNvPr>
          <p:cNvSpPr txBox="1"/>
          <p:nvPr/>
        </p:nvSpPr>
        <p:spPr>
          <a:xfrm>
            <a:off x="369116" y="5108895"/>
            <a:ext cx="11210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Main issue large folders</a:t>
            </a:r>
          </a:p>
          <a:p>
            <a:r>
              <a:rPr lang="en-GB" dirty="0" err="1"/>
              <a:t>SynthTab</a:t>
            </a:r>
            <a:r>
              <a:rPr lang="en-GB" dirty="0"/>
              <a:t>: 2TB</a:t>
            </a:r>
          </a:p>
          <a:p>
            <a:r>
              <a:rPr lang="en-GB" dirty="0"/>
              <a:t>GOAT: 500GB</a:t>
            </a:r>
          </a:p>
        </p:txBody>
      </p:sp>
    </p:spTree>
    <p:extLst>
      <p:ext uri="{BB962C8B-B14F-4D97-AF65-F5344CB8AC3E}">
        <p14:creationId xmlns:p14="http://schemas.microsoft.com/office/powerpoint/2010/main" val="3372884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524E0-CF45-C492-1586-FF6577E80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Approaches of Automatic Guitar Transcription (AGT)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0EDC2-B06F-4D7C-EDC4-C719C185C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4416553" cy="3770868"/>
          </a:xfrm>
        </p:spPr>
        <p:txBody>
          <a:bodyPr/>
          <a:lstStyle/>
          <a:p>
            <a:pPr marL="0" indent="0">
              <a:buNone/>
            </a:pPr>
            <a:r>
              <a:rPr lang="en-GB" dirty="0" err="1"/>
              <a:t>TabCNN</a:t>
            </a:r>
            <a:r>
              <a:rPr lang="en-GB" dirty="0"/>
              <a:t> (end-to-end solution)</a:t>
            </a:r>
          </a:p>
          <a:p>
            <a:r>
              <a:rPr lang="en-GB" dirty="0"/>
              <a:t>Solves both the problems of pitch estimation and fretboard mapping</a:t>
            </a:r>
          </a:p>
          <a:p>
            <a:r>
              <a:rPr lang="en-GB" dirty="0"/>
              <a:t>Predicts actual fingering of guitarist </a:t>
            </a:r>
          </a:p>
          <a:p>
            <a:r>
              <a:rPr lang="en-GB" dirty="0"/>
              <a:t>Trained on </a:t>
            </a:r>
            <a:r>
              <a:rPr lang="en-GB" dirty="0" err="1"/>
              <a:t>GuitarSet</a:t>
            </a:r>
            <a:endParaRPr lang="en-GB" dirty="0"/>
          </a:p>
          <a:p>
            <a:r>
              <a:rPr lang="en-GB" dirty="0"/>
              <a:t>Not explicitly designed for guitar techniques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BDB94A-3A66-E218-3C8D-C45D282E6FA6}"/>
              </a:ext>
            </a:extLst>
          </p:cNvPr>
          <p:cNvSpPr txBox="1">
            <a:spLocks/>
          </p:cNvSpPr>
          <p:nvPr/>
        </p:nvSpPr>
        <p:spPr>
          <a:xfrm>
            <a:off x="5834596" y="1676914"/>
            <a:ext cx="4416553" cy="3504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Fretting Transformer</a:t>
            </a:r>
          </a:p>
          <a:p>
            <a:r>
              <a:rPr lang="en-GB" dirty="0"/>
              <a:t>Translates music notation into guitar tablature</a:t>
            </a:r>
          </a:p>
          <a:p>
            <a:r>
              <a:rPr lang="en-GB" dirty="0"/>
              <a:t>Encoder-decoder model using T5 transformer architecture</a:t>
            </a:r>
          </a:p>
          <a:p>
            <a:r>
              <a:rPr lang="en-GB" dirty="0"/>
              <a:t>Predicts string fret combination</a:t>
            </a:r>
          </a:p>
          <a:p>
            <a:r>
              <a:rPr lang="en-GB" dirty="0"/>
              <a:t>Conditioned to work for different tunings and capo </a:t>
            </a:r>
          </a:p>
        </p:txBody>
      </p:sp>
    </p:spTree>
    <p:extLst>
      <p:ext uri="{BB962C8B-B14F-4D97-AF65-F5344CB8AC3E}">
        <p14:creationId xmlns:p14="http://schemas.microsoft.com/office/powerpoint/2010/main" val="4270193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58947-F524-4559-37AC-94BD7D111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Fretboard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5B730-C808-E536-C699-6D5393476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5412233" cy="4593828"/>
          </a:xfrm>
        </p:spPr>
        <p:txBody>
          <a:bodyPr/>
          <a:lstStyle/>
          <a:p>
            <a:r>
              <a:rPr lang="en-GB" dirty="0"/>
              <a:t>Current Fretboard Mapping: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GB" dirty="0"/>
              <a:t>Greedy Heuristic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GB" dirty="0"/>
              <a:t>Nearest fret distance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GB" dirty="0"/>
              <a:t>No context (Does not factor in the previous or next fret)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GB" dirty="0"/>
              <a:t>Simple and fast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56FE509-410D-EECE-8D69-2338AC8E8A5C}"/>
              </a:ext>
            </a:extLst>
          </p:cNvPr>
          <p:cNvSpPr txBox="1">
            <a:spLocks/>
          </p:cNvSpPr>
          <p:nvPr/>
        </p:nvSpPr>
        <p:spPr>
          <a:xfrm>
            <a:off x="7352563" y="1715532"/>
            <a:ext cx="3472792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Fretboard CNN (midi to fretboard)</a:t>
            </a:r>
          </a:p>
          <a:p>
            <a:r>
              <a:rPr lang="en-GB" dirty="0"/>
              <a:t>1-D Temporal Convolutional Network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4104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18398-494E-FA07-F0B2-F5F640928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Pitch (Control)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D6C78-A73B-07E2-DB5B-377EA74CE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Processing Evaluation...</a:t>
            </a:r>
          </a:p>
          <a:p>
            <a:r>
              <a:rPr lang="en-GB" dirty="0"/>
              <a:t>=======================================================================</a:t>
            </a:r>
          </a:p>
          <a:p>
            <a:r>
              <a:rPr lang="en-GB" dirty="0"/>
              <a:t>Total number of actual notes: 151</a:t>
            </a:r>
          </a:p>
          <a:p>
            <a:r>
              <a:rPr lang="en-GB" dirty="0"/>
              <a:t>Total number of predicted notes: 146</a:t>
            </a:r>
          </a:p>
          <a:p>
            <a:r>
              <a:rPr lang="en-GB" dirty="0"/>
              <a:t>•••••</a:t>
            </a:r>
          </a:p>
          <a:p>
            <a:r>
              <a:rPr lang="en-GB" dirty="0"/>
              <a:t>True Positives: 96</a:t>
            </a:r>
          </a:p>
          <a:p>
            <a:r>
              <a:rPr lang="en-GB" dirty="0"/>
              <a:t>False Positives: 50</a:t>
            </a:r>
          </a:p>
          <a:p>
            <a:r>
              <a:rPr lang="en-GB" dirty="0"/>
              <a:t>False Negatives: 55</a:t>
            </a:r>
          </a:p>
          <a:p>
            <a:r>
              <a:rPr lang="en-GB" dirty="0"/>
              <a:t>•••••</a:t>
            </a:r>
          </a:p>
          <a:p>
            <a:r>
              <a:rPr lang="en-GB" dirty="0"/>
              <a:t>The precision of the model: 0.6575</a:t>
            </a:r>
          </a:p>
          <a:p>
            <a:r>
              <a:rPr lang="en-GB" dirty="0"/>
              <a:t>The recall of the model: 0.6358</a:t>
            </a:r>
          </a:p>
          <a:p>
            <a:r>
              <a:rPr lang="en-GB" dirty="0"/>
              <a:t>The F1-Score of the model: 0.6465</a:t>
            </a:r>
          </a:p>
        </p:txBody>
      </p:sp>
    </p:spTree>
    <p:extLst>
      <p:ext uri="{BB962C8B-B14F-4D97-AF65-F5344CB8AC3E}">
        <p14:creationId xmlns:p14="http://schemas.microsoft.com/office/powerpoint/2010/main" val="3671412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F1E4D-9D79-AE75-533E-1F1B9AEA2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Pitch +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80076-0802-121B-D103-9D56EEA93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Processing Evaluation...</a:t>
            </a:r>
          </a:p>
          <a:p>
            <a:r>
              <a:rPr lang="en-GB" dirty="0"/>
              <a:t>=======================================================================</a:t>
            </a:r>
          </a:p>
          <a:p>
            <a:r>
              <a:rPr lang="en-GB" dirty="0"/>
              <a:t>Total number of actual notes: 151</a:t>
            </a:r>
          </a:p>
          <a:p>
            <a:r>
              <a:rPr lang="en-GB" dirty="0"/>
              <a:t>Total number of predicted notes: 109</a:t>
            </a:r>
          </a:p>
          <a:p>
            <a:r>
              <a:rPr lang="en-GB" dirty="0"/>
              <a:t>•••••</a:t>
            </a:r>
          </a:p>
          <a:p>
            <a:r>
              <a:rPr lang="en-GB" dirty="0"/>
              <a:t>True Positives: 64</a:t>
            </a:r>
          </a:p>
          <a:p>
            <a:r>
              <a:rPr lang="en-GB" dirty="0"/>
              <a:t>False Positives: 45</a:t>
            </a:r>
          </a:p>
          <a:p>
            <a:r>
              <a:rPr lang="en-GB" dirty="0"/>
              <a:t>False Negatives: 87</a:t>
            </a:r>
          </a:p>
          <a:p>
            <a:r>
              <a:rPr lang="en-GB" dirty="0"/>
              <a:t>•••••</a:t>
            </a:r>
          </a:p>
          <a:p>
            <a:r>
              <a:rPr lang="en-GB" dirty="0"/>
              <a:t>The precision of the model: 0.5872</a:t>
            </a:r>
          </a:p>
          <a:p>
            <a:r>
              <a:rPr lang="en-GB" dirty="0"/>
              <a:t>The recall of the model: 0.4238</a:t>
            </a:r>
          </a:p>
          <a:p>
            <a:r>
              <a:rPr lang="en-GB" dirty="0"/>
              <a:t>The F1-Score of the model: 0.4923</a:t>
            </a:r>
          </a:p>
        </p:txBody>
      </p:sp>
    </p:spTree>
    <p:extLst>
      <p:ext uri="{BB962C8B-B14F-4D97-AF65-F5344CB8AC3E}">
        <p14:creationId xmlns:p14="http://schemas.microsoft.com/office/powerpoint/2010/main" val="2758349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DEDF5-C5C9-28BB-ACC7-F865864B3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Pitch + Postprocessing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FAB76-894E-E1E3-2852-ABD9A2835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Processing Evaluation...</a:t>
            </a:r>
          </a:p>
          <a:p>
            <a:r>
              <a:rPr lang="en-GB" dirty="0"/>
              <a:t>=======================================================================</a:t>
            </a:r>
          </a:p>
          <a:p>
            <a:r>
              <a:rPr lang="en-GB" dirty="0"/>
              <a:t>Total number of actual notes: 151</a:t>
            </a:r>
          </a:p>
          <a:p>
            <a:r>
              <a:rPr lang="en-GB" dirty="0"/>
              <a:t>Total number of predicted notes: 111</a:t>
            </a:r>
          </a:p>
          <a:p>
            <a:r>
              <a:rPr lang="en-GB" dirty="0"/>
              <a:t>•••••</a:t>
            </a:r>
          </a:p>
          <a:p>
            <a:r>
              <a:rPr lang="en-GB" dirty="0"/>
              <a:t>True Positives: 84</a:t>
            </a:r>
          </a:p>
          <a:p>
            <a:r>
              <a:rPr lang="en-GB" dirty="0"/>
              <a:t>False Positives: 27</a:t>
            </a:r>
          </a:p>
          <a:p>
            <a:r>
              <a:rPr lang="en-GB" dirty="0"/>
              <a:t>False Negatives: 67</a:t>
            </a:r>
          </a:p>
          <a:p>
            <a:r>
              <a:rPr lang="en-GB" dirty="0"/>
              <a:t>•••••</a:t>
            </a:r>
          </a:p>
          <a:p>
            <a:r>
              <a:rPr lang="en-GB" dirty="0"/>
              <a:t>The precision of the model: 0.7568</a:t>
            </a:r>
          </a:p>
          <a:p>
            <a:r>
              <a:rPr lang="en-GB" dirty="0"/>
              <a:t>The recall of the model: 0.5563</a:t>
            </a:r>
          </a:p>
          <a:p>
            <a:r>
              <a:rPr lang="en-GB" dirty="0"/>
              <a:t>The F1-Score of the model: 0.6412</a:t>
            </a:r>
          </a:p>
        </p:txBody>
      </p:sp>
    </p:spTree>
    <p:extLst>
      <p:ext uri="{BB962C8B-B14F-4D97-AF65-F5344CB8AC3E}">
        <p14:creationId xmlns:p14="http://schemas.microsoft.com/office/powerpoint/2010/main" val="246204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91FE7-FBF4-7BA5-92F8-B29FA28C8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Pitch + Pre + Postprocessing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A883B-8459-586F-7D7B-767180889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Processing Evaluation...</a:t>
            </a:r>
          </a:p>
          <a:p>
            <a:r>
              <a:rPr lang="en-GB" dirty="0"/>
              <a:t>======================================================================</a:t>
            </a:r>
          </a:p>
          <a:p>
            <a:r>
              <a:rPr lang="en-GB" dirty="0"/>
              <a:t>•••••</a:t>
            </a:r>
          </a:p>
          <a:p>
            <a:r>
              <a:rPr lang="en-GB" dirty="0"/>
              <a:t>True Positives: 58</a:t>
            </a:r>
          </a:p>
          <a:p>
            <a:r>
              <a:rPr lang="en-GB" dirty="0"/>
              <a:t>False Positives: 21</a:t>
            </a:r>
          </a:p>
          <a:p>
            <a:r>
              <a:rPr lang="en-GB" dirty="0"/>
              <a:t>False Negatives: 93</a:t>
            </a:r>
          </a:p>
          <a:p>
            <a:r>
              <a:rPr lang="en-GB" dirty="0"/>
              <a:t>•••••</a:t>
            </a:r>
          </a:p>
          <a:p>
            <a:r>
              <a:rPr lang="en-GB" dirty="0"/>
              <a:t>The precision of the model: 0.7342</a:t>
            </a:r>
          </a:p>
          <a:p>
            <a:r>
              <a:rPr lang="en-GB" dirty="0"/>
              <a:t>The recall of the model: 0.3841</a:t>
            </a:r>
          </a:p>
          <a:p>
            <a:r>
              <a:rPr lang="en-GB" dirty="0"/>
              <a:t>The F1-Score of the model: 0.5043</a:t>
            </a:r>
          </a:p>
        </p:txBody>
      </p:sp>
    </p:spTree>
    <p:extLst>
      <p:ext uri="{BB962C8B-B14F-4D97-AF65-F5344CB8AC3E}">
        <p14:creationId xmlns:p14="http://schemas.microsoft.com/office/powerpoint/2010/main" val="3444432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8EE39-0C32-8F77-BC90-0E1ECD3A5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Plan	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1B7D9C-7579-8FE5-BC34-C76589C3C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Evaluation metrics for mapping </a:t>
            </a:r>
          </a:p>
          <a:p>
            <a:r>
              <a:rPr lang="en-GB" dirty="0"/>
              <a:t>Use a Pre-Trained Model (fine tuning)</a:t>
            </a:r>
          </a:p>
          <a:p>
            <a:r>
              <a:rPr lang="en-GB" dirty="0"/>
              <a:t>Classification of guitar techniques</a:t>
            </a:r>
          </a:p>
          <a:p>
            <a:r>
              <a:rPr lang="en-GB" dirty="0"/>
              <a:t>Light </a:t>
            </a:r>
            <a:r>
              <a:rPr lang="en-GB"/>
              <a:t>weight version to Tart?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386625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429</Words>
  <Application>Microsoft Office PowerPoint</Application>
  <PresentationFormat>Widescreen</PresentationFormat>
  <Paragraphs>86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Neue Haas Grotesk Text Pro</vt:lpstr>
      <vt:lpstr>VanillaVTI</vt:lpstr>
      <vt:lpstr>Supervisor Meeting - Friday</vt:lpstr>
      <vt:lpstr>Guitar on Audio Transcription Dataset (GOAT)</vt:lpstr>
      <vt:lpstr>Approaches of Automatic Guitar Transcription (AGT)</vt:lpstr>
      <vt:lpstr>Fretboard Mapping</vt:lpstr>
      <vt:lpstr>Basic Pitch (Control)</vt:lpstr>
      <vt:lpstr>Basic Pitch + Preprocessing</vt:lpstr>
      <vt:lpstr>Basic Pitch + Postprocessing</vt:lpstr>
      <vt:lpstr>Basic Pitch + Pre + Postprocessing</vt:lpstr>
      <vt:lpstr>Next Plan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aryan11 sunil</dc:creator>
  <cp:lastModifiedBy>aryan11 sunil</cp:lastModifiedBy>
  <cp:revision>11</cp:revision>
  <dcterms:created xsi:type="dcterms:W3CDTF">2025-11-11T16:40:06Z</dcterms:created>
  <dcterms:modified xsi:type="dcterms:W3CDTF">2025-11-19T12:25:36Z</dcterms:modified>
</cp:coreProperties>
</file>